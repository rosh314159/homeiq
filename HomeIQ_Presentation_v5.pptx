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800" b="1">
                <a:solidFill>
                  <a:srgbClr val="FFFFFF"/>
                </a:solidFill>
                <a:latin typeface="Calibri"/>
              </a:defRPr>
            </a:pPr>
            <a:r>
              <a:t>HomeIQ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0175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Calibri"/>
              </a:defRPr>
            </a:pPr>
            <a:r>
              <a:t>AI-Powered Property Intelligence for UK Homebuyers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Roshan Patel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4805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Technical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  <a:r>
              <a:t>•  Property data is scattered across separate websites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  <a:r>
              <a:t>•  No way to check if an asking price is actually fair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  <a:r>
              <a:t>•  Affordability checks require manual spreadsheet work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  <a:r>
              <a:t>•  All this data exists publicly but nobody has joined it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10A36E"/>
                </a:solidFill>
                <a:latin typeface="Calibri"/>
              </a:defRPr>
            </a:pPr>
            <a:r>
              <a:t>HomeIQ brings it all into one place: search a property, see its</a:t>
            </a:r>
          </a:p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10A36E"/>
                </a:solidFill>
                <a:latin typeface="Calibri"/>
              </a:defRPr>
            </a:pPr>
            <a:r>
              <a:t>predicted fair value with explanations, and check affordability</a:t>
            </a:r>
          </a:p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10A36E"/>
                </a:solidFill>
                <a:latin typeface="Calibri"/>
              </a:defRPr>
            </a:pPr>
            <a:r>
              <a:t>using real UK lending criteria.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188720"/>
            <a:ext cx="4572000" cy="347472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2697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94A3B8"/>
                </a:solidFill>
                <a:latin typeface="Calibri"/>
              </a:defRPr>
            </a:pPr>
            <a:r>
              <a:t>[INSERT SCREENSHOT / DEMO]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Existing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Rightmove and Zoopla dominate the UK market with 100+ million monthly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What they offer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•  List houses for sale with photos and descriptions</a:t>
            </a:r>
          </a:p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•  Price prediction algorithms for estimated value</a:t>
            </a:r>
          </a:p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•  Externally linked mortgage calculators</a:t>
            </a:r>
          </a:p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•  Allow users to look up any UK property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Drawbacks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•  No integration with the user's own financial data</a:t>
            </a:r>
          </a:p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•  No personalised house recommendations</a:t>
            </a:r>
          </a:p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•  Privacy concerns with third-party mortgage tools</a:t>
            </a:r>
          </a:p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•  Limited house details (energy, schools, transport)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  <a:r>
              <a:t>•  A web application that predicts house prices using diverse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  <a:r>
              <a:t>   datasets and evaluates affordability with the user's own finances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  <a:r>
              <a:t>•  Personalised house recommendations based on preferences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  <a:r>
              <a:t>•  Data-driven decisions rather than guesswork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  <a:defRPr sz="2000" b="1">
                <a:solidFill>
                  <a:srgbClr val="475569"/>
                </a:solidFill>
                <a:latin typeface="Calibri"/>
              </a:defRPr>
            </a:pPr>
            <a:r>
              <a:t>Key Objectives: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</a:p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  <a:r>
              <a:t>•  An ML model to predict the value of any UK house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  <a:r>
              <a:t>•  A financial feasibility model using real UK lending criteria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  <a:r>
              <a:t>•  House recommendations tailored to the user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  <a:r>
              <a:t>•  A UI that is easy to navigate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Part 1: ML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From raw government data to a trained, explainable model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ML Pipeline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698480" cy="32004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94A3B8"/>
                </a:solidFill>
                <a:latin typeface="Calibri"/>
              </a:defRPr>
            </a:pPr>
            <a:r>
              <a:t>[INSERT PIPELINE DIAGRAM: Data Fusion → Feature Engineering → Feature Selection → Model Training]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•  Data Fusion: Land Registry + EPC joined on address and postcode</a:t>
            </a:r>
          </a:p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•  Feature Engineering: 5 KDTree spatial indexes, 12 new distance/rating features</a:t>
            </a:r>
          </a:p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•  Feature Selection: Lasso L1 regularisation reduced 66+ columns to 16 features</a:t>
            </a:r>
          </a:p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•  Model Training: XGBoost with Optuna hyperparameter tuning (50 trials)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Data 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2024DataEPCJoin.ipynb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  <a:r>
              <a:t>•  Combined 3 years of EPC certificates (2022, 2023, 2024)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  <a:r>
              <a:t>•  EPCs valid for 10 years, so a single year misses ~60% of matches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  <a:r>
              <a:t>•  Deduplicated by UPRN, keeping the most recent certificate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  <a:r>
              <a:t>•  Standardised addresses (PAON + street, uppercase) for matching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  <a:r>
              <a:t>•  Inner join with Land Registry on address + postcode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  <a:r>
              <a:t>•  No imputation: only records with both a sale price and energy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371600"/>
            <a:ext cx="4572000" cy="41148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32004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94A3B8"/>
                </a:solidFill>
                <a:latin typeface="Calibri"/>
              </a:defRPr>
            </a:pPr>
            <a:r>
              <a:t>[INSERT DATA FUSION DIAGRAM]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Geospatial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DataProcessingPipelines.ipynb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  <a:r>
              <a:t>•  Built 5 KDTree spatial indexes: primary schools, secondary schools,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  <a:r>
              <a:t>   shops, train stations, bus stops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  <a:r>
              <a:t>•  For each property, find nearest neighbour in O(log n) time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  <a:r>
              <a:t>•  Two-phase distance: KDTree for fast lookup, geodesic() for accurate km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  <a:r>
              <a:t>•  Transport coordinates converted from EPSG:27700 to WGS84 via pyproj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  <a:r>
              <a:t>•  Created 12 features: distances, Ofsted ratings, property age, type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371600"/>
            <a:ext cx="4572000" cy="41148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32004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94A3B8"/>
                </a:solidFill>
                <a:latin typeface="Calibri"/>
              </a:defRPr>
            </a:pPr>
            <a:r>
              <a:t>[INSERT KDTREE / SPATIAL DIAGRAM]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Feature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FeatureSelection.ipynb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  <a:r>
              <a:t>•  Removed ~50 columns by domain knowledge: IDs, text, dates,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  <a:r>
              <a:t>   POTENTIAL ratings (data leakage risk)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  <a:r>
              <a:t>•  Correlation analysis against price and floor area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  <a:r>
              <a:t>•  Lasso L1 regularisation with 5-fold cross-validation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  <a:r>
              <a:t>•  Non-zero coefficients after L1 penalty = selected features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  <a:r>
              <a:t>•  Result: 66+ columns narrowed down to 16 features + 1 engineered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9"/>
              </a:lnSpc>
              <a:spcAft>
                <a:spcPts val="800"/>
              </a:spcAft>
              <a:defRPr sz="1400">
                <a:solidFill>
                  <a:srgbClr val="64748B"/>
                </a:solidFill>
                <a:latin typeface="Calibri"/>
              </a:defRPr>
            </a:pPr>
            <a:r>
              <a:t>Final features: total_floor_area, latitude, longitude, property_type, energy_rating,</a:t>
            </a:r>
          </a:p>
          <a:p>
            <a:pPr>
              <a:lnSpc>
                <a:spcPts val="1959"/>
              </a:lnSpc>
              <a:spcAft>
                <a:spcPts val="800"/>
              </a:spcAft>
              <a:defRPr sz="1400">
                <a:solidFill>
                  <a:srgbClr val="64748B"/>
                </a:solidFill>
                <a:latin typeface="Calibri"/>
              </a:defRPr>
            </a:pPr>
            <a:r>
              <a:t>age_in_years, main_fuel, school/shop/transport distances, Ofsted ratings, local_avg_price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Model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Final Model Tuning + Evaluation.ipynb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  <a:r>
              <a:t>•  Key feature: local_avg_price (mean price of 50 nearest training properties)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  <a:r>
              <a:t>•  KDTree built from training data only to prevent data leakage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  <a:r>
              <a:t>•  Optuna Bayesian optimisation: 50 trials, 7 hyperparameters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  <a:r>
              <a:t>•  TPE sampler learns from previous trials (smarter than grid/random)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  <a:r>
              <a:t>•  After tuning: retrained on train + validation (90%) for final model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  <a:r>
              <a:t>•  Test set used only once for final evaluation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371600"/>
            <a:ext cx="4572000" cy="41148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32004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94A3B8"/>
                </a:solidFill>
                <a:latin typeface="Calibri"/>
              </a:defRPr>
            </a:pPr>
            <a:r>
              <a:t>[INSERT OPTUNA / TRAINING DIAGRAM]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444752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16152"/>
            <a:ext cx="1444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Tolerance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194560" y="1188720"/>
            <a:ext cx="1444752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1216152"/>
            <a:ext cx="1444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Before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1188720"/>
            <a:ext cx="1444752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216152"/>
            <a:ext cx="1444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Final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188720"/>
            <a:ext cx="1444752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1216152"/>
            <a:ext cx="1444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600200"/>
            <a:ext cx="1444752" cy="3931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645920"/>
            <a:ext cx="1444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475569"/>
                </a:solidFill>
                <a:latin typeface="Calibri"/>
              </a:defRPr>
            </a:pPr>
            <a:r>
              <a:t>±5%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0" y="1600200"/>
            <a:ext cx="1444752" cy="3931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1645920"/>
            <a:ext cx="1444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475569"/>
                </a:solidFill>
                <a:latin typeface="Calibri"/>
              </a:defRPr>
            </a:pPr>
            <a:r>
              <a:t>16.5%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1600200"/>
            <a:ext cx="1444752" cy="3931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1645920"/>
            <a:ext cx="1444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0A36E"/>
                </a:solidFill>
                <a:latin typeface="Calibri"/>
              </a:defRPr>
            </a:pPr>
            <a:r>
              <a:t>45.3%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1600200"/>
            <a:ext cx="1444752" cy="3931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1645920"/>
            <a:ext cx="1444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76BF0"/>
                </a:solidFill>
                <a:latin typeface="Calibri"/>
              </a:defRPr>
            </a:pPr>
            <a:r>
              <a:t>+28.8pp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2011680"/>
            <a:ext cx="144475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057400"/>
            <a:ext cx="1444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475569"/>
                </a:solidFill>
                <a:latin typeface="Calibri"/>
              </a:defRPr>
            </a:pPr>
            <a:r>
              <a:t>±10%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94560" y="2011680"/>
            <a:ext cx="144475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94560" y="2057400"/>
            <a:ext cx="1444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475569"/>
                </a:solidFill>
                <a:latin typeface="Calibri"/>
              </a:defRPr>
            </a:pPr>
            <a:r>
              <a:t>30.8%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2011680"/>
            <a:ext cx="144475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2057400"/>
            <a:ext cx="1444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0A36E"/>
                </a:solidFill>
                <a:latin typeface="Calibri"/>
              </a:defRPr>
            </a:pPr>
            <a:r>
              <a:t>77.6%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20640" y="2011680"/>
            <a:ext cx="144475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0" y="2057400"/>
            <a:ext cx="1444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76BF0"/>
                </a:solidFill>
                <a:latin typeface="Calibri"/>
              </a:defRPr>
            </a:pPr>
            <a:r>
              <a:t>+46.8pp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2423160"/>
            <a:ext cx="1444752" cy="3931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2468879"/>
            <a:ext cx="1444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475569"/>
                </a:solidFill>
                <a:latin typeface="Calibri"/>
              </a:defRPr>
            </a:pPr>
            <a:r>
              <a:t>±20%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4560" y="2423160"/>
            <a:ext cx="1444752" cy="3931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94560" y="2468879"/>
            <a:ext cx="1444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475569"/>
                </a:solidFill>
                <a:latin typeface="Calibri"/>
              </a:defRPr>
            </a:pPr>
            <a:r>
              <a:t>54.8%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0" y="2423160"/>
            <a:ext cx="1444752" cy="3931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0" y="2468879"/>
            <a:ext cx="1444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0A36E"/>
                </a:solidFill>
                <a:latin typeface="Calibri"/>
              </a:defRPr>
            </a:pPr>
            <a:r>
              <a:t>88.5%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20640" y="2423160"/>
            <a:ext cx="1444752" cy="3931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0640" y="2468879"/>
            <a:ext cx="1444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76BF0"/>
                </a:solidFill>
                <a:latin typeface="Calibri"/>
              </a:defRPr>
            </a:pPr>
            <a:r>
              <a:t>+33.7pp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2834640"/>
            <a:ext cx="144475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2880360"/>
            <a:ext cx="1444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475569"/>
                </a:solidFill>
                <a:latin typeface="Calibri"/>
              </a:defRPr>
            </a:pPr>
            <a:r>
              <a:t>±30%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94560" y="2834640"/>
            <a:ext cx="144475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94560" y="2880360"/>
            <a:ext cx="1444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475569"/>
                </a:solidFill>
                <a:latin typeface="Calibri"/>
              </a:defRPr>
            </a:pPr>
            <a:r>
              <a:t>69.5%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0" y="2834640"/>
            <a:ext cx="144475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0" y="2880360"/>
            <a:ext cx="1444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0A36E"/>
                </a:solidFill>
                <a:latin typeface="Calibri"/>
              </a:defRPr>
            </a:pPr>
            <a:r>
              <a:t>93.5%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20640" y="2834640"/>
            <a:ext cx="1444752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20640" y="2880360"/>
            <a:ext cx="1444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76BF0"/>
                </a:solidFill>
                <a:latin typeface="Calibri"/>
              </a:defRPr>
            </a:pPr>
            <a:r>
              <a:t>+24.0pp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3383280"/>
            <a:ext cx="5669280" cy="292608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4617720"/>
            <a:ext cx="5669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94A3B8"/>
                </a:solidFill>
                <a:latin typeface="Calibri"/>
              </a:defRPr>
            </a:pPr>
            <a:r>
              <a:t>[INSERT ACCURACY DIAGRAM]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338328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•  Biggest driver: local_avg_price (mimics how valuers use comparable sales)</a:t>
            </a:r>
          </a:p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•  SHAP provides signed pound-value explanations per prediction</a:t>
            </a:r>
          </a:p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•  e.g. "Floor area +£45k, Train station distance −£12k"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Model Packaging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  <a:r>
              <a:t>•  Everything saved into a single .joblib file: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</a:p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  <a:r>
              <a:t>      –  Trained XGBoost model (479 trees)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  <a:r>
              <a:t>      –  Label encoders (property_type, energy_rating, main_fuel)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  <a:r>
              <a:t>      –  Feature column order for correct input alignment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  <a:r>
              <a:t>      –  KDTree + training prices (for local_avg_price at inference)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  <a:r>
              <a:t>      –  SHAP TreeExplainer (for per-prediction explanations)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</a:p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  <a:r>
              <a:t>•  Backend loads this file once on startup and caches in memory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  <a:r>
              <a:t>•  Tradeoff: fast inference but can't share across server instances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Part 2: Web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Flask REST API + React frontend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698480" cy="36576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889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94A3B8"/>
                </a:solidFill>
                <a:latin typeface="Calibri"/>
              </a:defRPr>
            </a:pPr>
            <a:r>
              <a:t>[INSERT ARCHITECTURE DIAGRAM: React ↔ Flask API ↔ SQLite / ML Model]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2120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40"/>
              </a:lnSpc>
              <a:spcAft>
                <a:spcPts val="800"/>
              </a:spcAft>
              <a:defRPr sz="1600">
                <a:solidFill>
                  <a:srgbClr val="475569"/>
                </a:solidFill>
                <a:latin typeface="Calibri"/>
              </a:defRPr>
            </a:pPr>
            <a:r>
              <a:t>•  5 REST endpoints  •  5 database tables  •  5 KDTree indexes cached in memory</a:t>
            </a:r>
          </a:p>
          <a:p>
            <a:pPr>
              <a:lnSpc>
                <a:spcPts val="2240"/>
              </a:lnSpc>
              <a:spcAft>
                <a:spcPts val="800"/>
              </a:spcAft>
              <a:defRPr sz="1600">
                <a:solidFill>
                  <a:srgbClr val="475569"/>
                </a:solidFill>
                <a:latin typeface="Calibri"/>
              </a:defRPr>
            </a:pPr>
            <a:r>
              <a:t>•  External APIs: EPC OpenData (energy certificates), Ideal Postcodes (address lookup)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Backend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Price Predictor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•  Lazy-loads model on first request</a:t>
            </a:r>
          </a:p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•  KDTree query (k=50) for local_avg_price</a:t>
            </a:r>
          </a:p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•  Label-encodes categoricals, handles unseen values</a:t>
            </a:r>
          </a:p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•  Returns price, SHAP values, and feature breakdown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Feasibility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•  UK income tax + NI (2025/26 bands)</a:t>
            </a:r>
          </a:p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•  Stamp duty with first-time buyer relief</a:t>
            </a:r>
          </a:p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•  Mortgage amortisation formula</a:t>
            </a:r>
          </a:p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•  Must pass: DTI &lt; 36%, LTV ≤ 95%, M:I ≤ 4.5x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40"/>
              </a:lnSpc>
              <a:spcAft>
                <a:spcPts val="800"/>
              </a:spcAft>
              <a:defRPr sz="1600">
                <a:solidFill>
                  <a:srgbClr val="64748B"/>
                </a:solidFill>
                <a:latin typeface="Calibri"/>
              </a:defRPr>
            </a:pPr>
            <a:r>
              <a:t>Recommendations:  Weighted k-NN across [lat, lon, price, floor_area] with priority modes (balanced / location / price)</a:t>
            </a:r>
          </a:p>
          <a:p>
            <a:pPr>
              <a:lnSpc>
                <a:spcPts val="2240"/>
              </a:lnSpc>
              <a:spcAft>
                <a:spcPts val="800"/>
              </a:spcAft>
              <a:defRPr sz="1600">
                <a:solidFill>
                  <a:srgbClr val="64748B"/>
                </a:solidFill>
                <a:latin typeface="Calibri"/>
              </a:defRPr>
            </a:pPr>
            <a:r>
              <a:t>Data Enrichment:  EPC API call → KDTree lookups for schools, shops, transport → ready for prediction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Enhanced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  <a:r>
              <a:t>•  Dynamic SQLAlchemy query builder with optional filters: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</a:p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  <a:r>
              <a:t>      –  Price range, postcode, property type, town/city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  <a:r>
              <a:t>      –  Distance to schools and train stations (walking time → km)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  <a:r>
              <a:t>      –  Undervalued / overvalued properties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  <a:r>
              <a:t>      –  Affordable-only mode (runs feasibility check per result)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</a:p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  <a:r>
              <a:t>•  Server-side pagination with offset/limit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  <a:r>
              <a:t>•  Results sorted by |asking price − predicted price|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188720"/>
            <a:ext cx="4572000" cy="45720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32461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94A3B8"/>
                </a:solidFill>
                <a:latin typeface="Calibri"/>
              </a:defRPr>
            </a:pPr>
            <a:r>
              <a:t>[INSERT SEARCH UI SCREENSHOT]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React 19  ·  Material-UI v6  ·  Chart.js  ·  React Router v7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Key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•  Property search with address autocomplete</a:t>
            </a:r>
          </a:p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•  SHAP explainer: per-feature pound-value impact</a:t>
            </a:r>
          </a:p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•  Financial dashboard with doughnut and bar charts</a:t>
            </a:r>
          </a:p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•  Similar property 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State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•  No Redux: just useState + useEffect</a:t>
            </a:r>
          </a:p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•  Cross-page data via React Router state</a:t>
            </a:r>
          </a:p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•  localStorage for financial data and recent searches</a:t>
            </a:r>
          </a:p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•  Recent searches: FIFO queue, max 5 entries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029200" cy="210312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94A3B8"/>
                </a:solidFill>
                <a:latin typeface="Calibri"/>
              </a:defRPr>
            </a:pPr>
            <a:r>
              <a:t>[INSERT FRONTEND SCREENSHOT 1]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114800"/>
            <a:ext cx="5029200" cy="210312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9377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94A3B8"/>
                </a:solidFill>
                <a:latin typeface="Calibri"/>
              </a:defRPr>
            </a:pPr>
            <a:r>
              <a:t>[INSERT FRONTEND SCREENSHOT 2]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Technical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•  Flask monolith over microservices: simpler at this scale,</a:t>
            </a:r>
          </a:p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   shared process makes KDTree caching straightforward</a:t>
            </a:r>
          </a:p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</a:p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•  SQLite for MVP: single-writer is fine, SQLAlchemy means</a:t>
            </a:r>
          </a:p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   migrating to PostgreSQL is just a connection string change</a:t>
            </a:r>
          </a:p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</a:p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•  SHAP over feature_importances_: users need signed per-prediction</a:t>
            </a:r>
          </a:p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   explanations in pounds, not a global feature ranking</a:t>
            </a:r>
          </a:p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</a:p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•  localStorage over Redux: two small JSON objects don't justify</a:t>
            </a:r>
          </a:p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   adding a state management library</a:t>
            </a:r>
          </a:p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</a:p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•  In-process caching: model + KDTrees loaded once, reused across</a:t>
            </a:r>
          </a:p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   requests (tradeoff: can't share across server instances)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Unit &amp; Integration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•  Isolated tests for prediction, enrichment, feasibility</a:t>
            </a:r>
          </a:p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•  Mocked external dependencies (KDTree, SHAP, EPC)</a:t>
            </a:r>
          </a:p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•  Mortgage calculations validated against spreadsheets</a:t>
            </a:r>
          </a:p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•  End-to-end tests across all Flask endpoints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API &amp; Load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•  Postman collections for all 5 endpoints</a:t>
            </a:r>
          </a:p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•  Parameterised requests across property types/locations</a:t>
            </a:r>
          </a:p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•  Concurrent load testing against the backend</a:t>
            </a:r>
          </a:p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•  Validated response schemas and error handling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E13434"/>
                </a:solidFill>
                <a:latin typeface="Calibri"/>
              </a:defRPr>
            </a:pPr>
            <a:r>
              <a:t>Key limitation: EPC API is rate-limited, causing timeouts under concurrent load.</a:t>
            </a:r>
          </a:p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E13434"/>
                </a:solidFill>
                <a:latin typeface="Calibri"/>
              </a:defRPr>
            </a:pPr>
            <a:r>
              <a:t>This informed the decision to cache EPC responses and add retry logic.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alibri"/>
              </a:defRPr>
            </a:pPr>
            <a: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  <a:r>
              <a:t>•  Backend: Heroku (Gunicorn)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  <a:r>
              <a:t>•  Frontend: Vercel (static build)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  <a:r>
              <a:t>•  Database: SQLite on Heroku dyno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  <a:r>
              <a:t>•  CORS configured for localhost + production domain</a:t>
            </a:r>
          </a:p>
          <a:p>
            <a:pPr>
              <a:lnSpc>
                <a:spcPts val="2800"/>
              </a:lnSpc>
              <a:spcAft>
                <a:spcPts val="800"/>
              </a:spcAft>
              <a:defRPr sz="2000">
                <a:solidFill>
                  <a:srgbClr val="475569"/>
                </a:solidFill>
                <a:latin typeface="Calibri"/>
              </a:defRPr>
            </a:pPr>
            <a:r>
              <a:t>•  Environment variables for API keys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10698480" cy="18288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800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94A3B8"/>
                </a:solidFill>
                <a:latin typeface="Calibri"/>
              </a:defRPr>
            </a:pPr>
            <a:r>
              <a:t>[UPDATE WITH DEPLOYMENT STATUS]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Reflections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ML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•  Random split → temporal split for seasonal trends</a:t>
            </a:r>
          </a:p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•  Vectorise KDTree queries for ~100x enrichment speedup</a:t>
            </a:r>
          </a:p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•  Add prediction drift detection and model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Web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•  SQLite → PostgreSQL + PostGIS for spatial queries</a:t>
            </a:r>
          </a:p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•  Redis caching for EPC data, predictions, search results</a:t>
            </a:r>
          </a:p>
          <a:p>
            <a:pPr>
              <a:lnSpc>
                <a:spcPts val="2520"/>
              </a:lnSpc>
              <a:spcAft>
                <a:spcPts val="800"/>
              </a:spcAft>
              <a:defRPr sz="1800">
                <a:solidFill>
                  <a:srgbClr val="475569"/>
                </a:solidFill>
                <a:latin typeface="Calibri"/>
              </a:defRPr>
            </a:pPr>
            <a:r>
              <a:t>•  CI/CD pipeline and Celery task queue at scale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t>Happy to walk through any part of the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Roshan Patel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