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19"/>
              </a:lnSpc>
              <a:spcAft>
                <a:spcPts val="200"/>
              </a:spcAft>
              <a:defRPr sz="6800" b="1">
                <a:solidFill>
                  <a:srgbClr val="FFFFFF"/>
                </a:solidFill>
                <a:latin typeface="Calibri"/>
              </a:defRPr>
            </a:pPr>
            <a:r>
              <a:t>HomeIQ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0">
                <a:solidFill>
                  <a:srgbClr val="94A3B8"/>
                </a:solidFill>
                <a:latin typeface="Calibri"/>
              </a:defRPr>
            </a:pPr>
            <a:r>
              <a:t>AI-Powered Property Intelligence for UK Homebuyers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Roshan 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Technical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212080"/>
            <a:ext cx="813816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523036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93C5FD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76" y="5212080"/>
            <a:ext cx="896112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5230368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93C5FD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5212080"/>
            <a:ext cx="649224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523036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93C5FD"/>
                </a:solidFill>
                <a:latin typeface="Calibri"/>
              </a:defRPr>
            </a:pPr>
            <a:r>
              <a:t>SHAP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5212080"/>
            <a:ext cx="813816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523036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93C5FD"/>
                </a:solidFill>
                <a:latin typeface="Calibri"/>
              </a:defRPr>
            </a:pPr>
            <a:r>
              <a:t>Optuna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7608" y="5212080"/>
            <a:ext cx="731519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7608" y="5230368"/>
            <a:ext cx="731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93C5FD"/>
                </a:solidFill>
                <a:latin typeface="Calibri"/>
              </a:defRPr>
            </a:pPr>
            <a:r>
              <a:t>Flask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6288" y="5212080"/>
            <a:ext cx="731519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5230368"/>
            <a:ext cx="731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93C5FD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4968" y="5212080"/>
            <a:ext cx="978407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5230368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93C5FD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0536" y="5212080"/>
            <a:ext cx="1143000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52303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93C5FD"/>
                </a:solidFill>
                <a:latin typeface="Calibri"/>
              </a:defRPr>
            </a:pPr>
            <a:r>
              <a:t>SQLAlchemy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•  Energy data, school ratings, transport links, prices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 all sit on different websites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•  No way to tell if an asking price is fair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•  Affordability checks require manual spreadsheet work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•  All of this data exists in public datasets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 but nobody has joined it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D5F5E8"/>
          </a:solidFill>
          <a:ln w="12700">
            <a:solidFill>
              <a:srgbClr val="10A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45720" cy="164592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3891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10A36E"/>
                </a:solidFill>
                <a:latin typeface="Calibri"/>
              </a:defRPr>
            </a:pPr>
            <a:r>
              <a:t>What HomeIQ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091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Search any UK property. See its predicted fair value</a:t>
            </a:r>
          </a:p>
          <a:p>
            <a:pPr algn="l"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with per-feature explanations. Check if you can</a:t>
            </a:r>
          </a:p>
          <a:p>
            <a:pPr algn="l"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afford the mortgage using real lending criteria.</a:t>
            </a:r>
          </a:p>
          <a:p>
            <a:pPr algn="l"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Find similar properties nearby.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02920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45720" cy="155448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Phase 1: ML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Data fusion from Land Registry + EPC + schools + shops + transport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Geospatial feature engineering with KDTrees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XGBoost model with SHAP explainability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02920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017520"/>
            <a:ext cx="45720" cy="155448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Phase 2: Web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0156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Flask REST API serving the trained model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React frontend with real-time property lookup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Affordability assessment using UK mortgage criteria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Similar property recommendations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84632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846320"/>
            <a:ext cx="45720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9377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303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Python · XGBoost · SHAP · Optuna · Flask · React 19 · Chart.js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59"/>
              </a:lnSpc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 1: ML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From raw government data to a trained, explainable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78608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578608" cy="4572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333B4F"/>
                </a:solidFill>
                <a:latin typeface="Calibri"/>
              </a:defRPr>
            </a:pPr>
            <a:r>
              <a:t>Data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2024DataEPCJoin.ipynb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Land Registry 2024 + EPC (2022-24)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Inner join on address + postcode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Dedup on UPRN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94A3B8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1188720"/>
            <a:ext cx="2578608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188720"/>
            <a:ext cx="2578608" cy="4572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5032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2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333B4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DataProcessingPipelines.ipynb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5 cKDTree spatial indexes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Geodesic distance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12 new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94A3B8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1188720"/>
            <a:ext cx="2578608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64224" y="1188720"/>
            <a:ext cx="2578608" cy="4572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01384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333B4F"/>
                </a:solidFill>
                <a:latin typeface="Calibri"/>
              </a:defRPr>
            </a:pPr>
            <a:r>
              <a:t>Feature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4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FeatureSelection.ipynb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Lasso CV (L1 regularisation)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Correlation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66+ cols → 16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94A3B8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0576" y="1188720"/>
            <a:ext cx="2578608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0576" y="1188720"/>
            <a:ext cx="2578608" cy="4572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17736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17736" y="1399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74936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333B4F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Final Model Tuning.ipynb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XGBoost + Optuna (50 trials)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local_avg_price (KDTree k=50)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SHAP explainability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12064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532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71800" y="512064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5532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KDTrees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12080" y="512064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8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16+1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5532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512064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532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Optuna Trials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92640" y="512064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80/10/10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5532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2024DataEPCJoin.ipynb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1B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Combine 3 years of EPC certificates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combinedEPC = pd.concat(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[epc22, epc23, epc24], ignore_index=True)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Keep most recent per property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combinedEPC.sort_values('INSPECTION_DATE',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ascending=False)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combinedEPC.drop_duplicates(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subset='UPRN', keep='first')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Standardise addresses for matching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data["fullAddress"] = f"{paon} {street}".upper()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Inner join: house prices + EPC data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merged = pd.merge(data, combinedEPC,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on=['fullAddress','postcode'], how='inner')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45720" cy="91440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3 years of EPCs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EPCs valid for 10 years. Single year misses ~60% of matches.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45720" cy="91440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Inner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614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Only records with both sale price and energy data. No imputation.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474720"/>
            <a:ext cx="45720" cy="91440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UPRN deduplication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58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Sort by date descending, keep first = most recent certificate.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572000"/>
            <a:ext cx="45720" cy="91440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Address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560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Composite key: PAON + street (uppercase) + postcode. Handles flats via SAON.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Geospatial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DataProcessingPipelines.ipynb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2560320"/>
          </a:xfrm>
          <a:prstGeom prst="roundRect">
            <a:avLst>
              <a:gd name="adj" fmla="val 3000"/>
            </a:avLst>
          </a:prstGeom>
          <a:solidFill>
            <a:srgbClr val="1B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from scipy.spatial import cKDTree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primary_tree   = cKDTree(primary_coords)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secondary_tree = cKDTree(secondary_coords)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shops_tree     = cKDTree(shop_coords)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station_tree   = cKDTree(station_coords)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bus_tree       = cKDTree(bus_coords)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O(log n) nearest lookup per house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dist, idx = primary_tree.query(house_loc, k=1)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km = geodesic(house_loc, coords[idx]).km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E58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45720" cy="137160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333B4F"/>
                </a:solidFill>
                <a:latin typeface="Calibri"/>
              </a:defRPr>
            </a:pPr>
            <a:r>
              <a:t>Two-phase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KDTree for fast lookup (Euclidean on lat/lon)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geodesic() for accurate km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Features created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0292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556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nearest_primary_school_distance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57400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756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nearest_primary_school_ofsted_rating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77439"/>
            <a:ext cx="50292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39572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nearest_primary_school_outstanding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97479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7157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nearest_secondary_school_*  (×3)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50292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both_schools_outstanding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337560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3558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nearest_shop_distance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57599"/>
            <a:ext cx="50292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67588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nearest_train_station_distance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99592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nearest_bus_stop_distance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297679"/>
            <a:ext cx="50292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31596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age_in_years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617720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63600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property_type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Transport data converted EPSG:27700 → WGS84 via pyproj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Feature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FeatureSelection.ipynb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1B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Remove extreme outliers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data = data[(data['price'] &gt;= 30000)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    &amp; (data['price'] &lt;= 5000000)]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Exclude identifiers, text, dates,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POTENTIAL columns (leakage risk)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X = data.drop(columns=exclude_columns)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Lasso: L1 drives coefficients to zero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lasso_cv = LassoCV(cv=5, max_iter=10000)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lasso_cv.fit(X_scaled, y)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selected = features[features['Importance'] &gt; 0]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45720" cy="82296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1. Domain exclusion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~50 columns removed: IDs, text, dates, POTENTIAL ratings (leakage)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45720" cy="82296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2. Correlation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70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Checked vs price and vs floor area to detect multicollinearity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291840"/>
            <a:ext cx="45720" cy="82296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3. Lasso L1 regularisation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758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5-fold CV finds optimal alpha. Non-zero coefficients = selected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376BF0"/>
                </a:solidFill>
                <a:latin typeface="Calibri"/>
              </a:defRPr>
            </a:pPr>
            <a:r>
              <a:t>66+ columns  →  16 features  +  1 engineered (local_avg_price)  =  17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onsolas"/>
              </a:defRPr>
            </a:pPr>
            <a:r>
              <a:t>total_floor_area · latitude · longitude · property_type · energy_rating · age_in_years · main_fuel · school/shop/transport distances · ofsted ratings · local_avg_price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Final Model Tuning + Evaluation.ipynb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B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Build KDTree on TRAINING data only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tree = KDTree(train_coords)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local_avg_price: k=50 nearest neighbors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_, idx = tree.query(train_coords, k=51)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idx = idx[:, 1:]   # exclude self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local_avg = [train_prices[i].mean()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       for i in idx]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Bayesian hyperparameter optimisation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def objective(trial):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params = {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'n_estimators':  trial.suggest_int(...),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'max_depth':     trial.suggest_int(3,12),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'learning_rate': trial.suggest_float(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    0.01, 0.2, log=True),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return mae_on_validation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study = optuna.create_study('minimize')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study.optimize(objective, n_trials=50)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029200" cy="1051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45720" cy="105156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Data leakage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7"/>
            <a:ext cx="4754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KDTree from training only. Training: k+1 then drop self.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Val/test: k neighbors from training tree.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1460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514600"/>
            <a:ext cx="45720" cy="82296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k=50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986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Tested k=1 to 100 on validation. k=50 balances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local specificity vs statistical stability.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2044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520440"/>
            <a:ext cx="45720" cy="82296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Optuna (Bayesian)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044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TPE sampler learns from previous trials. 50 trials,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7 hyperparameters. Smarter than grid/random search.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26280"/>
            <a:ext cx="5029200" cy="822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526280"/>
            <a:ext cx="45720" cy="82296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Final retraining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103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After tuning: retrain on train+val (90% of data).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Test set used only for final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2161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Tolerance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0" y="1188720"/>
            <a:ext cx="12161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2161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88720"/>
            <a:ext cx="12161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2161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188720"/>
            <a:ext cx="12161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16152"/>
            <a:ext cx="1216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1216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9105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±5%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1554480"/>
            <a:ext cx="1216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159105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16.5%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1216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59105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45.3%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554480"/>
            <a:ext cx="1216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59105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376BF0"/>
                </a:solidFill>
                <a:latin typeface="Calibri"/>
              </a:defRPr>
            </a:pPr>
            <a:r>
              <a:t>+28.8pp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920240"/>
            <a:ext cx="1216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95681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±10%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1920240"/>
            <a:ext cx="1216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195681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30.8%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920240"/>
            <a:ext cx="1216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195681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77.6%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1920240"/>
            <a:ext cx="1216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95681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376BF0"/>
                </a:solidFill>
                <a:latin typeface="Calibri"/>
              </a:defRPr>
            </a:pPr>
            <a:r>
              <a:t>+46.8pp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286000"/>
            <a:ext cx="1216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32257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±20%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2286000"/>
            <a:ext cx="1216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232257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286000"/>
            <a:ext cx="1216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232257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88.5%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2286000"/>
            <a:ext cx="1216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32257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376BF0"/>
                </a:solidFill>
                <a:latin typeface="Calibri"/>
              </a:defRPr>
            </a:pPr>
            <a:r>
              <a:t>+33.7pp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2651760"/>
            <a:ext cx="1216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68833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±30%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65960" y="2651760"/>
            <a:ext cx="1216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268833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69.5%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651760"/>
            <a:ext cx="1216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268833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93.5%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2651760"/>
            <a:ext cx="1216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2688336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376BF0"/>
                </a:solidFill>
                <a:latin typeface="Calibri"/>
              </a:defRPr>
            </a:pPr>
            <a:r>
              <a:t>+24.0pp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20040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ACCURACY DIAGRAM]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18872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1188720"/>
            <a:ext cx="45720" cy="219456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1280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SHAP: per-prediction explanations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1572768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"Predicted £320k because: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Floor area (85m²)            +£45,000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Local avg price                +£30,000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Train station (3.2km)           −£12,000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Energy rating (D)               −£8,000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Signed pound values per feature, not just a ranking.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56616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3566160"/>
            <a:ext cx="45720" cy="109728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657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333B4F"/>
                </a:solidFill>
                <a:latin typeface="Calibri"/>
              </a:defRPr>
            </a:pPr>
            <a:r>
              <a:t>Hyperparameters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9319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n_estimators=479  max_depth=12  lr=0.037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onsolas"/>
              </a:defRPr>
            </a:pPr>
            <a:r>
              <a:t>subsample=0.819  colsample=0.973  reg_α=0.995  reg_λ=1.149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846320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D5F5E8"/>
          </a:solidFill>
          <a:ln w="12700">
            <a:solidFill>
              <a:srgbClr val="10A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4846320"/>
            <a:ext cx="45720" cy="100584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937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Biggest driver: local_avg_price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212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Average price of 50 nearest training properties.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333B4F"/>
                </a:solidFill>
                <a:latin typeface="Calibri"/>
              </a:defRPr>
            </a:pPr>
            <a:r>
              <a:t>Mimics how valuers use comparable sales.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Model Packaging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560320"/>
          </a:xfrm>
          <a:prstGeom prst="roundRect">
            <a:avLst>
              <a:gd name="adj" fmla="val 3000"/>
            </a:avLst>
          </a:prstGeom>
          <a:solidFill>
            <a:srgbClr val="1B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model_artifacts = {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'model':          final_model,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'label_encoders': label_encoders,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'feature_columns':X.columns.tolist(),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'kdtree':         tree,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'train_prices':   train_prices,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'shap_explainer': explainer,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joblib.dump(model_artifacts,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'house_price_model_artifacts.joblib')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029200" cy="43891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0700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✓  XGBoost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08176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479 trees, trained on 90% of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029200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0992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✓  Label encoders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11095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property_type, energy_rating, main_fuel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029200" cy="43891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1284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✓  Feature column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14016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Ensures correct input ordering at inference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029200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1576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✓  KDTree + training prices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16936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Computes local_avg_price for new properties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5029200" cy="43891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186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10A36E"/>
                </a:solidFill>
                <a:latin typeface="Calibri"/>
              </a:defRPr>
            </a:pPr>
            <a:r>
              <a:t>✓  SHAP explainer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19856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Per-prediction feature importance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45720" cy="91440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300" b="1">
                <a:solidFill>
                  <a:srgbClr val="333B4F"/>
                </a:solidFill>
                <a:latin typeface="Calibri"/>
              </a:defRPr>
            </a:pPr>
            <a:r>
              <a:t>One file = complete inference capability. Backend loads once on startup, caches in globals.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Tradeoff: globals are process-local, can't be shared across multiple server instances.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59"/>
              </a:lnSpc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 2: Web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Flask REST API + React frontend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2926080"/>
          </a:xfrm>
          <a:prstGeom prst="roundRect">
            <a:avLst>
              <a:gd name="adj" fmla="val 3000"/>
            </a:avLst>
          </a:prstGeom>
          <a:solidFill>
            <a:srgbClr val="1B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463040"/>
            <a:ext cx="2194560" cy="822960"/>
          </a:xfrm>
          <a:prstGeom prst="roundRect">
            <a:avLst>
              <a:gd name="adj" fmla="val 3000"/>
            </a:avLst>
          </a:prstGeom>
          <a:solidFill>
            <a:srgbClr val="273B57"/>
          </a:solidFill>
          <a:ln w="12700">
            <a:solidFill>
              <a:srgbClr val="376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93C5FD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MUI · Chart.js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  <a:defRPr sz="2000" b="1">
                <a:solidFill>
                  <a:srgbClr val="376BF0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65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REST /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2926080" cy="2377440"/>
          </a:xfrm>
          <a:prstGeom prst="roundRect">
            <a:avLst>
              <a:gd name="adj" fmla="val 3000"/>
            </a:avLst>
          </a:prstGeom>
          <a:solidFill>
            <a:srgbClr val="273B57"/>
          </a:solidFill>
          <a:ln w="12700">
            <a:solidFill>
              <a:srgbClr val="376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25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93C5FD"/>
                </a:solidFill>
                <a:latin typeface="Calibri"/>
              </a:defRPr>
            </a:pPr>
            <a:r>
              <a:t>Flask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/fetch-and-enrich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/predict-price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/feasibility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974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/recommendations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/enhanced_search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  <a:defRPr sz="2000" b="1">
                <a:solidFill>
                  <a:srgbClr val="10A3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280160"/>
            <a:ext cx="3200400" cy="2377440"/>
          </a:xfrm>
          <a:prstGeom prst="roundRect">
            <a:avLst>
              <a:gd name="adj" fmla="val 3000"/>
            </a:avLst>
          </a:prstGeom>
          <a:solidFill>
            <a:srgbClr val="273B57"/>
          </a:solidFill>
          <a:ln w="12700">
            <a:solidFill>
              <a:srgbClr val="10A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6EE7B7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737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SQLite + SQLAlchemy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057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30k+ schools/shops/transport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37743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ML model (.joblib)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6974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5 KDTree indexes (in-memory)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Endpoints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38912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Components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438912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ML Features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438912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DB Tables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4389120"/>
            <a:ext cx="2011680" cy="731520"/>
          </a:xfrm>
          <a:prstGeom prst="roundRect">
            <a:avLst>
              <a:gd name="adj" fmla="val 3000"/>
            </a:avLst>
          </a:prstGeom>
          <a:solidFill>
            <a:srgbClr val="E0E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376BF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Routes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49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External: EPC OpenData API (energy certificates) · Ideal Postcodes API (address autocomplete)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Backend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29000" cy="3931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45720" cy="393192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Price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price_predictor.py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Lazy-loads joblib on first request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Per prediction: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1. KDTree query (k=50) → local_avg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2. Label-encode categoricals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3. Handle unseen → 'Unknown'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4. model.predict()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5. shap_explainer()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Returns: price, SHAP values,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feature values, local avg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429000" cy="3931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45720" cy="393192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1887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Feasibility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81328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feasibility_model.py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UK Income Tax + NI (2025/26 bands)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Personal allowance tapering &gt;100k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Stamp duty with FTB relief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Amortisation formula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Interest rate by LTV tier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Must ALL pass: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DTI &lt; 36%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Mortgage-to-income ≤ 4.5x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LTV ≤ 95%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Bills-to-income &lt; 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29000" cy="3931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45720" cy="393192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recommendation_service.py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Weighted k-NN on: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[lat, lon, price, floor_area]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StandardScaler normalisation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Priority weights: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balanced:  [1, 1, 1, 1]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location:  [2, 2, 0.5, 0.5]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price:     [0.5, 0.5, 2, 1]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Optional: affordableOnly mode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filters to affordable houses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835640" cy="73152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E1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45720" cy="73152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4924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333B4F"/>
                </a:solidFill>
                <a:latin typeface="Calibri"/>
              </a:defRPr>
            </a:pPr>
            <a:r>
              <a:t>Data Enrichment (data_enricher.py)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235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EPC API call → initialize KDTrees from SQLite (once) → enrich_schools + shops + trains + buses + age + house_type → ready for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Enhanced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3017520"/>
          </a:xfrm>
          <a:prstGeom prst="roundRect">
            <a:avLst>
              <a:gd name="adj" fmla="val 3000"/>
            </a:avLst>
          </a:prstGeom>
          <a:solidFill>
            <a:srgbClr val="1B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39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enhanced_search.py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query = House.query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if price_min: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query = query.filter(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  House.predicted_price &gt;= price_min)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if postcode: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query = query.filter(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  House.postcode.ilike(f'%{pc}%'))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Affordability: O(N) per-house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if only_affordable: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for house in query.all():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  if get_feasibility(...)['is_affordable']: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          affordable_ids.append(house.id)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Price range (min/max)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647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Postcode (partial match)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665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Property type (D/S/T/F/B)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682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Town or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700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Undervalued / overvalued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971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Distance to primary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273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Distance to secondary school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5753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Distance to train 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8770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 Affordable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502920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45720" cy="118872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805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Walking time →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Frontend converts minutes to km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(avg walking speed 4.8 km/h = 0.08 km/min)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89120"/>
            <a:ext cx="502920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389120"/>
            <a:ext cx="45720" cy="118872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Pagination &amp; sorting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731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Server-side offset/limit. Results sorted by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|asking price − predicted price| (smallest first)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React 19  ·  Material-UI v6  ·  Chart.js  ·  React Router v7  ·  Axios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2560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5720" cy="256032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Property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HouseSearch.js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1. Enter postcode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2. Ideal Postcodes API → addresses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3. Select address → backend enrichment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4. Enriched data → /predict-price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5. navigate('/details', {state})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429000" cy="2560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45720" cy="256032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SHAP Explainer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55648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ShapExplainer.js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Maps ML names → human labels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useMemo: sort by |SHAP value|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Green/red chips for +/− impact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Shows actual value + £ impact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e.g. "85 m²" → "+£45,000"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429000" cy="2560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45720" cy="256032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Financial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55648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FeasibilityAssessment.js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Tab 1: Doughnut chart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mortgage, heating, water, lighting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Tab 2: Horizontal bar chart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DTI, LTV, M:I vs thresholds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Bars turn red when exceeded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45720" cy="182880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State management (no Redux)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9028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Component state: useState + useEffect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Cross-page: React Router state object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Persistence: localStorage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•  Financial data (JSON)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  •  Recent searches (FIFO, max 5)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localStorage.clear() on tab close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206240"/>
            <a:ext cx="45720" cy="182880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Recent searches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9028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HouseDetails.js → localStorage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1. Parse existing array (or [])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2. Filter out same postcode (dedup)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3. unshift() to front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4. pop() if length &gt; 5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5. Stringify back to localStorage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Technical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45720" cy="86868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200"/>
              </a:spcAft>
              <a:defRPr sz="1500" b="1">
                <a:solidFill>
                  <a:srgbClr val="333B4F"/>
                </a:solidFill>
                <a:latin typeface="Calibri"/>
              </a:defRPr>
            </a:pPr>
            <a:r>
              <a:t>Flask monolith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At this scale, microservices add complexity without benefit. Shared process makes KDTree caching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45720" cy="86868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200"/>
              </a:spcAft>
              <a:defRPr sz="1500" b="1">
                <a:solidFill>
                  <a:srgbClr val="333B4F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Single-writer MVP. SQLAlchemy ORM means migrating to PostgreSQL is a connection string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45720" cy="86868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82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200"/>
              </a:spcAft>
              <a:defRPr sz="1500" b="1">
                <a:solidFill>
                  <a:srgbClr val="333B4F"/>
                </a:solidFill>
                <a:latin typeface="Calibri"/>
              </a:defRPr>
            </a:pPr>
            <a:r>
              <a:t>SHAP over feature_importances_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9300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Users need per-prediction signed explanations in pounds, not a global ranking.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45720" cy="86868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87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200"/>
              </a:spcAft>
              <a:defRPr sz="1500" b="1">
                <a:solidFill>
                  <a:srgbClr val="333B4F"/>
                </a:solidFill>
                <a:latin typeface="Calibri"/>
              </a:defRPr>
            </a:pPr>
            <a:r>
              <a:t>localStorage over Redux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9884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Two small JSON objects. Redux would be overhead for a problem that fits in ten lines.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20640"/>
            <a:ext cx="45720" cy="86868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93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200"/>
              </a:spcAft>
              <a:defRPr sz="1500" b="1">
                <a:solidFill>
                  <a:srgbClr val="333B4F"/>
                </a:solidFill>
                <a:latin typeface="Calibri"/>
              </a:defRPr>
            </a:pPr>
            <a:r>
              <a:t>In-process caching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0468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Model + KDTrees loaded once, reused across requests. Tradeoff: can't share across instances.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45720" cy="182880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Isolated tests for prediction, enrichment, and feasibility modules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Mocked KDTree and SHAP dependencies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Validated mortgage calculations against manual spreadsheets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45720" cy="182880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Integration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End-to-end tests across Flask endpoints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Verified search, predict, and feasibility flows return correct schemas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Tested error handling for missing/malformed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5029200" cy="1463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45720" cy="146304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API Testing with Postman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444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Manual and collection-based testing of all 5 endpoints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Parameterised requests for different property types and locations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Validated response payloads and status codes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00400"/>
            <a:ext cx="5029200" cy="1463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45720" cy="146304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Load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8444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Concurrent request simulation against the backend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Exposed bottleneck: EPC API rate limits cause timeouts under load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Informed decision to cache EPC responses and add retry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E1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45720" cy="64008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E13434"/>
                </a:solidFill>
                <a:latin typeface="Calibri"/>
              </a:defRPr>
            </a:pPr>
            <a:r>
              <a:t>Key limitation:  EPC API rate limiting caused timeouts under concurrent load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E58310"/>
                </a:solidFill>
                <a:latin typeface="Calibri"/>
              </a:defRPr>
            </a:pPr>
            <a:r>
              <a:t>Placeholder — to be updated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45720" cy="228600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Intended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Backend: Heroku (Gunicorn)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Frontend: Vercel (static build)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Database: SQLite on Heroku dyno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CORS for localhost + Vercel domain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Env vars for API keys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45720" cy="228600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Current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21408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[Update with deployment state]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5720" cy="77724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Temporal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Random split → temporal split (train Jan-Sep, test Dec)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502920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45720" cy="77724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Vectorise enrichment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apply(axis=1) is slow. Batch KDTree queries for ~100x speedup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02920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45720" cy="77724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Model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Prediction drift detection, feature distribution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Web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02920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45720" cy="777240"/>
          </a:xfrm>
          <a:prstGeom prst="rect">
            <a:avLst/>
          </a:prstGeom>
          <a:solidFill>
            <a:srgbClr val="E1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PostgreSQL + PostGIS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Concurrent access, native spatial indexing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331720"/>
            <a:ext cx="502920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331720"/>
            <a:ext cx="45720" cy="777240"/>
          </a:xfrm>
          <a:prstGeom prst="rect">
            <a:avLst/>
          </a:prstGeom>
          <a:solidFill>
            <a:srgbClr val="37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Redis caching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EPC (24h TTL), predictions (until retrain), search (5-15 min)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91840"/>
            <a:ext cx="502920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291840"/>
            <a:ext cx="45720" cy="777240"/>
          </a:xfrm>
          <a:prstGeom prst="rect">
            <a:avLst/>
          </a:prstGeom>
          <a:solidFill>
            <a:srgbClr val="E5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383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333B4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75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Integration tests for endpoints, mocked EPC API, property-based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D5F5E8"/>
          </a:solidFill>
          <a:ln w="12700">
            <a:solidFill>
              <a:srgbClr val="10A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389120"/>
            <a:ext cx="45720" cy="640080"/>
          </a:xfrm>
          <a:prstGeom prst="rect">
            <a:avLst/>
          </a:prstGeom>
          <a:solidFill>
            <a:srgbClr val="10A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10A36E"/>
                </a:solidFill>
                <a:latin typeface="Calibri"/>
              </a:defRPr>
            </a:pPr>
            <a:r>
              <a:t>At scale:  Redis  ·  Celery task queue  ·  MLflow  ·  CI/CD  ·  Code splitting + CDN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980"/>
              </a:lnSpc>
              <a:spcAft>
                <a:spcPts val="2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  <a:defRPr sz="2000" b="0">
                <a:solidFill>
                  <a:srgbClr val="94A3B8"/>
                </a:solidFill>
                <a:latin typeface="Calibri"/>
              </a:defRPr>
            </a:pPr>
            <a:r>
              <a:t>Happy to walk through any part of the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4206240"/>
            <a:ext cx="2706624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76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4224527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DataProcessingPipelines.ipynb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9704" y="4206240"/>
            <a:ext cx="2130552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76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9704" y="4224527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FeatureSelection.ipynb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7416" y="4206240"/>
            <a:ext cx="2295144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76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57416" y="4224527"/>
            <a:ext cx="2295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Final Model Tuning.ipynb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4206240"/>
            <a:ext cx="2048255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76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4224527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2024DataEPCJoin.ipynb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4663440"/>
            <a:ext cx="1801367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0A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681727"/>
            <a:ext cx="18013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price_predictor.py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4663440"/>
            <a:ext cx="1636776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0A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4681727"/>
            <a:ext cx="1636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data_enricher.py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83" y="4663440"/>
            <a:ext cx="1965960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0A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3" y="4681727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feasibility_model.py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4663440"/>
            <a:ext cx="2377440" cy="292608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10A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4681727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recommendation_service.py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Roshan Patel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